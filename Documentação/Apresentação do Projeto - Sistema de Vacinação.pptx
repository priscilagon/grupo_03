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Poppins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0e5705c4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e0e5705c45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21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2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24.png"/><Relationship Id="rId7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24.png"/><Relationship Id="rId7" Type="http://schemas.openxmlformats.org/officeDocument/2006/relationships/image" Target="../media/image27.png"/><Relationship Id="rId8" Type="http://schemas.openxmlformats.org/officeDocument/2006/relationships/image" Target="../media/image2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95300" y="1698277"/>
            <a:ext cx="112014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Sistema de </a:t>
            </a:r>
            <a:r>
              <a:rPr b="1" i="0" lang="en-US" sz="5400" u="none" cap="none" strike="noStrike">
                <a:solidFill>
                  <a:srgbClr val="BEF264"/>
                </a:solidFill>
                <a:latin typeface="Poppins"/>
                <a:ea typeface="Poppins"/>
                <a:cs typeface="Poppins"/>
                <a:sym typeface="Poppins"/>
              </a:rPr>
              <a:t>Vacinação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806898"/>
            <a:ext cx="10668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Defesa de Projeto Técnico &amp; Arquitetura de Banco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902273"/>
            <a:ext cx="10668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Aldenora Oliveira, Bryan Richard, Ivson Padilha Freire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CETAM | Manaus,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2415480"/>
            <a:ext cx="114300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95300" y="2758380"/>
            <a:ext cx="11201400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BEF264"/>
                </a:solidFill>
                <a:latin typeface="Poppins"/>
                <a:ea typeface="Poppins"/>
                <a:cs typeface="Poppins"/>
                <a:sym typeface="Poppins"/>
              </a:rPr>
              <a:t>Contexto &amp; Justificativa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62000" y="3680370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 tecnologia como pilar de segurança na saúde pública.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 rotWithShape="1">
          <a:blip r:embed="rId4">
            <a:alphaModFix/>
          </a:blip>
          <a:srcRect b="14146" l="0" r="0" t="14154"/>
          <a:stretch/>
        </p:blipFill>
        <p:spPr>
          <a:xfrm>
            <a:off x="6381750" y="1798290"/>
            <a:ext cx="50482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1000125" y="571500"/>
            <a:ext cx="10951368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PROBLEMA NA GESTÃO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762000" y="571500"/>
            <a:ext cx="95250" cy="54858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1190625" y="2384077"/>
            <a:ext cx="4619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Lato"/>
                <a:ea typeface="Lato"/>
                <a:cs typeface="Lato"/>
                <a:sym typeface="Lato"/>
              </a:rPr>
              <a:t>Riscos de Erro: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Aplicação de doses vencidas por falha de controle manual.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1190625" y="3250852"/>
            <a:ext cx="4619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Lato"/>
                <a:ea typeface="Lato"/>
                <a:cs typeface="Lato"/>
                <a:sym typeface="Lato"/>
              </a:rPr>
              <a:t>Prazos: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Dificuldade em monitorar intervalos entre doses subsequentes.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1190625" y="4117627"/>
            <a:ext cx="4619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Lato"/>
                <a:ea typeface="Lato"/>
                <a:cs typeface="Lato"/>
                <a:sym typeface="Lato"/>
              </a:rPr>
              <a:t>Dados: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Fragmentação de informações entre postos de saúde.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43170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29847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165252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03995"/>
            <a:ext cx="3397299" cy="28079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424" y="2203995"/>
            <a:ext cx="3397299" cy="28079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849" y="2203995"/>
            <a:ext cx="3397299" cy="280794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1000125" y="571500"/>
            <a:ext cx="10951368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ARQUITETURA DE OBJETIVOS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762000" y="571500"/>
            <a:ext cx="95250" cy="54858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1104900" y="3280320"/>
            <a:ext cx="2847074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Modelagem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1104900" y="3726060"/>
            <a:ext cx="27114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Criação dos modelos conceitual, lógico e físico focados em integridade sanitária.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4740324" y="3280320"/>
            <a:ext cx="2847074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4740324" y="3726060"/>
            <a:ext cx="27114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Construção estrutural via MySQL para garantir a persistência segura dos dados.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8375749" y="3280320"/>
            <a:ext cx="2847074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8375749" y="3726060"/>
            <a:ext cx="27114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Triggers e Procedures para validação ativa e rastreio de lotes em tempo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4900" y="259452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324" y="259452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75749" y="259452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32583"/>
            <a:ext cx="5048250" cy="2550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32583"/>
            <a:ext cx="5048250" cy="255076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1000125" y="571500"/>
            <a:ext cx="10951368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FERRAMENTAS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762000" y="571500"/>
            <a:ext cx="95250" cy="54858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1104900" y="3408908"/>
            <a:ext cx="4580572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1104900" y="3854648"/>
            <a:ext cx="4362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BEF264"/>
                </a:solidFill>
                <a:latin typeface="Lato"/>
                <a:ea typeface="Lato"/>
                <a:cs typeface="Lato"/>
                <a:sym typeface="Lato"/>
              </a:rPr>
              <a:t>MySQL &amp; XAMPP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para o backend e infraestrutura local de SGBD.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6724650" y="3408908"/>
            <a:ext cx="4580572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Design CASE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6724650" y="3854648"/>
            <a:ext cx="4362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BEF264"/>
                </a:solidFill>
                <a:latin typeface="Lato"/>
                <a:ea typeface="Lato"/>
                <a:cs typeface="Lato"/>
                <a:sym typeface="Lato"/>
              </a:rPr>
              <a:t>brModelo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b="1" i="0" lang="en-US" sz="1350" u="none" cap="none" strike="noStrike">
                <a:solidFill>
                  <a:srgbClr val="BEF264"/>
                </a:solidFill>
                <a:latin typeface="Lato"/>
                <a:ea typeface="Lato"/>
                <a:cs typeface="Lato"/>
                <a:sym typeface="Lato"/>
              </a:rPr>
              <a:t>Astah UML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para a engenharia de requisitos e DER.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4900" y="2723108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2723108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/>
          <p:nvPr/>
        </p:nvSpPr>
        <p:spPr>
          <a:xfrm>
            <a:off x="5524500" y="2415480"/>
            <a:ext cx="114300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495300" y="2758380"/>
            <a:ext cx="11201400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BEF264"/>
                </a:solidFill>
                <a:latin typeface="Poppins"/>
                <a:ea typeface="Poppins"/>
                <a:cs typeface="Poppins"/>
                <a:sym typeface="Poppins"/>
              </a:rPr>
              <a:t>Design de Banco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762000" y="3680370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Estrutura, Relacionamentos e Normalização.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70708"/>
            <a:ext cx="3397299" cy="2074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424" y="2570708"/>
            <a:ext cx="3397299" cy="2074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849" y="2570708"/>
            <a:ext cx="3397299" cy="207451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1000125" y="571500"/>
            <a:ext cx="10951368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PROCESSO DE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762000" y="571500"/>
            <a:ext cx="95250" cy="54858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1104900" y="2913608"/>
            <a:ext cx="2847074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Conceitual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1104900" y="3359348"/>
            <a:ext cx="27114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Mapeamento das entidades (Paciente, Vacina, Posto) e suas regras de negócio.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4740324" y="2913608"/>
            <a:ext cx="2847074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Lógico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4740324" y="3359348"/>
            <a:ext cx="27114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Definição de tipos, PK/FK e aplicação de Normalização até a 3ª Forma Normal.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8375749" y="2913608"/>
            <a:ext cx="2847074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Físico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8375749" y="3359348"/>
            <a:ext cx="27114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Escrita do código DDL para materialização das tabelas e constraints de segurança.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title="Vacinação_db (1).png"/>
          <p:cNvPicPr preferRelativeResize="0"/>
          <p:nvPr/>
        </p:nvPicPr>
        <p:blipFill rotWithShape="1">
          <a:blip r:embed="rId3">
            <a:alphaModFix/>
          </a:blip>
          <a:srcRect b="0" l="3034" r="3025" t="0"/>
          <a:stretch/>
        </p:blipFill>
        <p:spPr>
          <a:xfrm>
            <a:off x="4673400" y="1466288"/>
            <a:ext cx="7285923" cy="396529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762000" y="571500"/>
            <a:ext cx="560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DER Conceitual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55550" y="1466300"/>
            <a:ext cx="3911400" cy="40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O Modelo Conceitual representa o nível mais alto de abstração do sistema, focando estritamente na realidade do negócio e nos requisitos de saúde pública. Nesta etapa, o objetivo central é o mapeamento das interações fundamentais entre Cidadãos, Unidades de Saúde e Imunizantes, ignorando detalhes técnicos de software para priorizar as regras que regem a vacinação. Toda a estrutura foi desenhada utilizando a ferramenta brModelo para garantir a fidelidade aos processos reais.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/>
        </p:nvSpPr>
        <p:spPr>
          <a:xfrm>
            <a:off x="762000" y="571500"/>
            <a:ext cx="560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Lógico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762000" y="1408800"/>
            <a:ext cx="3911400" cy="40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 transição para o Modelo Lógico marca a tradução das abstrações em estruturas de tabelas prontas para o ambiente relacional. Aqui, definimos com precisão as Chaves Primárias e Estrangeiras que sustentam a integridade dos dados, aplicando rigorosamente a Terceira Forma Normal para eliminar redundâncias e inconsistências. Este esquema lógico, desenvolvido em ferramentas como Astah e brModelo, assegura que cada aplicação de vacina esteja vinculada de forma imutável ao histórico do paciente.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21" title="Vacinação_db_logic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2300" y="1906362"/>
            <a:ext cx="5791199" cy="3045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/>
        </p:nvSpPr>
        <p:spPr>
          <a:xfrm>
            <a:off x="762000" y="571500"/>
            <a:ext cx="560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Físico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762000" y="1581900"/>
            <a:ext cx="3911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O Modelo Físico representa a materialização final do projeto dentro do servidor de banco de dados. Através de scripts SQL otimizados, as tabelas são criadas com todas as restrições de integridade e índices de performance necessários. Além da estrutura básica, esta etapa inclui a implementação de inteligência ativa, como as Triggers de segurança que validam lotes em tempo real, operando de forma estável no ambiente MySQL através do servidor XAMPP.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22" title="Sistema de vacinação UBS.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1625" y="1900500"/>
            <a:ext cx="5791274" cy="3057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5013" y="1588999"/>
            <a:ext cx="3507303" cy="17411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5026" y="3525812"/>
            <a:ext cx="3507300" cy="174113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3"/>
          <p:cNvSpPr txBox="1"/>
          <p:nvPr/>
        </p:nvSpPr>
        <p:spPr>
          <a:xfrm>
            <a:off x="1000125" y="571500"/>
            <a:ext cx="1095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Fundação Estrutural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762000" y="571500"/>
            <a:ext cx="95400" cy="5487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7375725" y="1817833"/>
            <a:ext cx="3045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 utilização do tipo ENUM na coluna perfil garante a integridade dos dados, restringindo o cadastro apenas a funções pré-definidas e evitando que usuários sejam criados com cargos inexistentes ou grafias incorretas.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7375718" y="3793552"/>
            <a:ext cx="30459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 restrição UNIQUE no campo de login assegura a exclusividade de cada acesso, impedindo a duplicidade de contas e reforçando a segurança na identificação individual de cada colaborador no sistema.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23" title="Captura de tela_11-5-2026_134719_.jpe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058950"/>
            <a:ext cx="5637775" cy="21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4"/>
          <p:cNvSpPr txBox="1"/>
          <p:nvPr/>
        </p:nvSpPr>
        <p:spPr>
          <a:xfrm>
            <a:off x="1043096" y="592625"/>
            <a:ext cx="459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Inserção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952200" y="592625"/>
            <a:ext cx="36300" cy="5487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4"/>
          <p:cNvSpPr txBox="1"/>
          <p:nvPr/>
        </p:nvSpPr>
        <p:spPr>
          <a:xfrm>
            <a:off x="6698750" y="2794039"/>
            <a:ext cx="50484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Processamento de informações reais através do comando INSERT INTO. Esta etapa valida a estrutura do banco ao popular as tabelas, garantindo que todas as restrições e vínculos de chaves funcionem na prática.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24" title="Captura de tela_11-5-2026_14556_.jpe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525" y="2978025"/>
            <a:ext cx="6120151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5013" y="1588999"/>
            <a:ext cx="3507303" cy="17411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5026" y="3525812"/>
            <a:ext cx="3507300" cy="174113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5"/>
          <p:cNvSpPr txBox="1"/>
          <p:nvPr/>
        </p:nvSpPr>
        <p:spPr>
          <a:xfrm>
            <a:off x="1000125" y="571500"/>
            <a:ext cx="1095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INTELIGÊNCIA DO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762000" y="571500"/>
            <a:ext cx="95400" cy="5487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5"/>
          <p:cNvSpPr txBox="1"/>
          <p:nvPr/>
        </p:nvSpPr>
        <p:spPr>
          <a:xfrm>
            <a:off x="7375630" y="2312885"/>
            <a:ext cx="3198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1"/>
              <a:buFont typeface="Arial"/>
              <a:buNone/>
            </a:pPr>
            <a:r>
              <a:rPr b="1" i="0" lang="en-US" sz="12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Trigger de Validade</a:t>
            </a:r>
            <a:endParaRPr b="0" i="0" sz="9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5"/>
          <p:cNvSpPr txBox="1"/>
          <p:nvPr/>
        </p:nvSpPr>
        <p:spPr>
          <a:xfrm>
            <a:off x="7375630" y="2612669"/>
            <a:ext cx="30459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8"/>
              <a:buFont typeface="Arial"/>
              <a:buNone/>
            </a:pPr>
            <a:r>
              <a:rPr b="0" i="0" lang="en-US" sz="908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Bloqueio automático: O banco impede a inserção se a data de validade do lote for inferior à data atual.</a:t>
            </a:r>
            <a:endParaRPr b="0" i="0" sz="9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5"/>
          <p:cNvSpPr txBox="1"/>
          <p:nvPr/>
        </p:nvSpPr>
        <p:spPr>
          <a:xfrm>
            <a:off x="7375643" y="4249694"/>
            <a:ext cx="3198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1"/>
              <a:buFont typeface="Arial"/>
              <a:buNone/>
            </a:pPr>
            <a:r>
              <a:rPr b="1" i="0" lang="en-US" sz="12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Controle de Estoque</a:t>
            </a:r>
            <a:endParaRPr b="0" i="0" sz="9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5"/>
          <p:cNvSpPr txBox="1"/>
          <p:nvPr/>
        </p:nvSpPr>
        <p:spPr>
          <a:xfrm>
            <a:off x="7375643" y="4549477"/>
            <a:ext cx="30459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8"/>
              <a:buFont typeface="Arial"/>
              <a:buNone/>
            </a:pPr>
            <a:r>
              <a:rPr b="0" i="0" lang="en-US" sz="908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Atualização em tempo real do saldo de doses disponíveis após cada aplicação confirmada.</a:t>
            </a:r>
            <a:endParaRPr b="0" i="0" sz="9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3" name="Google Shape;22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75630" y="1851648"/>
            <a:ext cx="307490" cy="307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75643" y="3788459"/>
            <a:ext cx="345925" cy="30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5013" y="1588999"/>
            <a:ext cx="3507303" cy="17411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5026" y="3525812"/>
            <a:ext cx="3507300" cy="174113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6"/>
          <p:cNvSpPr txBox="1"/>
          <p:nvPr/>
        </p:nvSpPr>
        <p:spPr>
          <a:xfrm>
            <a:off x="1000125" y="571500"/>
            <a:ext cx="1095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INTELIGÊNCIA DO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6"/>
          <p:cNvSpPr/>
          <p:nvPr/>
        </p:nvSpPr>
        <p:spPr>
          <a:xfrm>
            <a:off x="762000" y="571500"/>
            <a:ext cx="95400" cy="5487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6"/>
          <p:cNvSpPr txBox="1"/>
          <p:nvPr/>
        </p:nvSpPr>
        <p:spPr>
          <a:xfrm>
            <a:off x="7375630" y="2312885"/>
            <a:ext cx="3198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1"/>
              <a:buFont typeface="Arial"/>
              <a:buNone/>
            </a:pPr>
            <a:r>
              <a:rPr b="1" i="0" lang="en-US" sz="12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Trigger de Validade</a:t>
            </a:r>
            <a:endParaRPr b="0" i="0" sz="9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6"/>
          <p:cNvSpPr txBox="1"/>
          <p:nvPr/>
        </p:nvSpPr>
        <p:spPr>
          <a:xfrm>
            <a:off x="7375630" y="2612669"/>
            <a:ext cx="30459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8"/>
              <a:buFont typeface="Arial"/>
              <a:buNone/>
            </a:pPr>
            <a:r>
              <a:rPr b="0" i="0" lang="en-US" sz="908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Bloqueio automático: O banco impede a inserção se a data de validade do lote for inferior à data atual.</a:t>
            </a:r>
            <a:endParaRPr b="0" i="0" sz="9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6"/>
          <p:cNvSpPr txBox="1"/>
          <p:nvPr/>
        </p:nvSpPr>
        <p:spPr>
          <a:xfrm>
            <a:off x="7375643" y="4249694"/>
            <a:ext cx="3198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1"/>
              <a:buFont typeface="Arial"/>
              <a:buNone/>
            </a:pPr>
            <a:r>
              <a:rPr b="1" i="0" lang="en-US" sz="12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Controle de Estoque</a:t>
            </a:r>
            <a:endParaRPr b="0" i="0" sz="9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6"/>
          <p:cNvSpPr txBox="1"/>
          <p:nvPr/>
        </p:nvSpPr>
        <p:spPr>
          <a:xfrm>
            <a:off x="7375643" y="4549477"/>
            <a:ext cx="30459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8"/>
              <a:buFont typeface="Arial"/>
              <a:buNone/>
            </a:pPr>
            <a:r>
              <a:rPr b="0" i="0" lang="en-US" sz="908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Atualização em tempo real do saldo de doses disponíveis após cada aplicação confirmada.</a:t>
            </a:r>
            <a:endParaRPr b="0" i="0" sz="9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8" name="Google Shape;23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75630" y="1851648"/>
            <a:ext cx="307490" cy="307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75643" y="3788459"/>
            <a:ext cx="345925" cy="307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6" title="Captura de tela_11-5-2026_134442_.jpeg"/>
          <p:cNvPicPr preferRelativeResize="0"/>
          <p:nvPr/>
        </p:nvPicPr>
        <p:blipFill rotWithShape="1">
          <a:blip r:embed="rId8">
            <a:alphaModFix/>
          </a:blip>
          <a:srcRect b="-8920" l="9527" r="0" t="8920"/>
          <a:stretch/>
        </p:blipFill>
        <p:spPr>
          <a:xfrm>
            <a:off x="1566022" y="1944672"/>
            <a:ext cx="4814669" cy="385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7"/>
          <p:cNvSpPr txBox="1"/>
          <p:nvPr/>
        </p:nvSpPr>
        <p:spPr>
          <a:xfrm>
            <a:off x="495300" y="1819275"/>
            <a:ext cx="1120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BEF264"/>
                </a:solidFill>
                <a:latin typeface="Poppins"/>
                <a:ea typeface="Poppins"/>
                <a:cs typeface="Poppins"/>
                <a:sym typeface="Poppins"/>
              </a:rPr>
              <a:t>FIM.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7"/>
          <p:cNvSpPr txBox="1"/>
          <p:nvPr/>
        </p:nvSpPr>
        <p:spPr>
          <a:xfrm>
            <a:off x="762000" y="2924175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Agradecemos a atenção.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7"/>
          <p:cNvSpPr txBox="1"/>
          <p:nvPr/>
        </p:nvSpPr>
        <p:spPr>
          <a:xfrm>
            <a:off x="762000" y="3781425"/>
            <a:ext cx="10668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ivson.padilha@cetam.edu.br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Manaus |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